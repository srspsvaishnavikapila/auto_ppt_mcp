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C00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531352" y="6510528"/>
            <a:ext cx="3657600" cy="347472"/>
          </a:xfrm>
          <a:prstGeom prst="rect">
            <a:avLst/>
          </a:prstGeom>
          <a:solidFill>
            <a:srgbClr val="FF4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45352" y="6693408"/>
            <a:ext cx="5943600" cy="164592"/>
          </a:xfrm>
          <a:prstGeom prst="rect">
            <a:avLst/>
          </a:prstGeom>
          <a:solidFill>
            <a:srgbClr val="A02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Trebuchet MS"/>
              </a:rPr>
              <a:t>create a 5 slide ppt on solar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383280"/>
            <a:ext cx="3200400" cy="128016"/>
          </a:xfrm>
          <a:prstGeom prst="rect">
            <a:avLst/>
          </a:prstGeom>
          <a:solidFill>
            <a:srgbClr val="FF4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39312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DBBFF"/>
                </a:solidFill>
                <a:latin typeface="Trebuchet MS"/>
              </a:rPr>
              <a:t>An introduction to the topic.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6C0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383280" y="0"/>
            <a:ext cx="91440" cy="6858000"/>
          </a:xfrm>
          <a:prstGeom prst="rect">
            <a:avLst/>
          </a:prstGeom>
          <a:solidFill>
            <a:srgbClr val="FF4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5806440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5000" b="1" i="0">
                <a:solidFill>
                  <a:srgbClr val="550099"/>
                </a:solidFill>
                <a:latin typeface="Trebuchet M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256032"/>
            <a:ext cx="2980944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Trebuchet MS"/>
              </a:rPr>
              <a:t>Background &amp; 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39312" y="640080"/>
            <a:ext cx="128016" cy="128016"/>
          </a:xfrm>
          <a:prstGeom prst="rect">
            <a:avLst/>
          </a:prstGeom>
          <a:solidFill>
            <a:srgbClr val="FF4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58768" y="347472"/>
            <a:ext cx="79552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0052"/>
                </a:solidFill>
                <a:latin typeface="Trebuchet MS"/>
              </a:rPr>
              <a:t>Understanding the foundations of this topic.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39312" y="1481328"/>
            <a:ext cx="128016" cy="128016"/>
          </a:xfrm>
          <a:prstGeom prst="rect">
            <a:avLst/>
          </a:prstGeom>
          <a:solidFill>
            <a:srgbClr val="FF4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58768" y="1188720"/>
            <a:ext cx="79552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0052"/>
                </a:solidFill>
                <a:latin typeface="Trebuchet MS"/>
              </a:rPr>
              <a:t>Historical development and key milestones.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39312" y="2322576"/>
            <a:ext cx="128016" cy="128016"/>
          </a:xfrm>
          <a:prstGeom prst="rect">
            <a:avLst/>
          </a:prstGeom>
          <a:solidFill>
            <a:srgbClr val="FF4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58768" y="2029968"/>
            <a:ext cx="79552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0052"/>
                </a:solidFill>
                <a:latin typeface="Trebuchet MS"/>
              </a:rPr>
              <a:t>Why this topic is important today.</a:t>
            </a: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2" y="1371600"/>
            <a:ext cx="4114800" cy="30849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6C0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383280" y="0"/>
            <a:ext cx="91440" cy="6858000"/>
          </a:xfrm>
          <a:prstGeom prst="rect">
            <a:avLst/>
          </a:prstGeom>
          <a:solidFill>
            <a:srgbClr val="FF4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5806440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5000" b="1" i="0">
                <a:solidFill>
                  <a:srgbClr val="550099"/>
                </a:solidFill>
                <a:latin typeface="Trebuchet M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256032"/>
            <a:ext cx="2980944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Trebuchet MS"/>
              </a:rPr>
              <a:t>Core Concepts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39312" y="640080"/>
            <a:ext cx="128016" cy="128016"/>
          </a:xfrm>
          <a:prstGeom prst="rect">
            <a:avLst/>
          </a:prstGeom>
          <a:solidFill>
            <a:srgbClr val="FF4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58768" y="347472"/>
            <a:ext cx="79552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0052"/>
                </a:solidFill>
                <a:latin typeface="Trebuchet MS"/>
              </a:rPr>
              <a:t>The main ideas and principles involved.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39312" y="1481328"/>
            <a:ext cx="128016" cy="128016"/>
          </a:xfrm>
          <a:prstGeom prst="rect">
            <a:avLst/>
          </a:prstGeom>
          <a:solidFill>
            <a:srgbClr val="FF4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58768" y="1188720"/>
            <a:ext cx="79552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0052"/>
                </a:solidFill>
                <a:latin typeface="Trebuchet MS"/>
              </a:rPr>
              <a:t>Important terminology and definitions.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39312" y="2322576"/>
            <a:ext cx="128016" cy="128016"/>
          </a:xfrm>
          <a:prstGeom prst="rect">
            <a:avLst/>
          </a:prstGeom>
          <a:solidFill>
            <a:srgbClr val="FF4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58768" y="2029968"/>
            <a:ext cx="79552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0052"/>
                </a:solidFill>
                <a:latin typeface="Trebuchet MS"/>
              </a:rPr>
              <a:t>How the components interact with each other.</a:t>
            </a: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2" y="1371600"/>
            <a:ext cx="4114800" cy="27446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6C0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383280" y="0"/>
            <a:ext cx="91440" cy="6858000"/>
          </a:xfrm>
          <a:prstGeom prst="rect">
            <a:avLst/>
          </a:prstGeom>
          <a:solidFill>
            <a:srgbClr val="FF4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5806440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5000" b="1" i="0">
                <a:solidFill>
                  <a:srgbClr val="550099"/>
                </a:solidFill>
                <a:latin typeface="Trebuchet M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256032"/>
            <a:ext cx="2980944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Trebuchet MS"/>
              </a:rPr>
              <a:t>Real-World Applications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39312" y="640080"/>
            <a:ext cx="128016" cy="128016"/>
          </a:xfrm>
          <a:prstGeom prst="rect">
            <a:avLst/>
          </a:prstGeom>
          <a:solidFill>
            <a:srgbClr val="FF4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58768" y="347472"/>
            <a:ext cx="79552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0052"/>
                </a:solidFill>
                <a:latin typeface="Trebuchet MS"/>
              </a:rPr>
              <a:t>Practical examples from everyday life.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39312" y="1481328"/>
            <a:ext cx="128016" cy="128016"/>
          </a:xfrm>
          <a:prstGeom prst="rect">
            <a:avLst/>
          </a:prstGeom>
          <a:solidFill>
            <a:srgbClr val="FF4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58768" y="1188720"/>
            <a:ext cx="79552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0052"/>
                </a:solidFill>
                <a:latin typeface="Trebuchet MS"/>
              </a:rPr>
              <a:t>How this topic affects science and technology.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39312" y="2322576"/>
            <a:ext cx="128016" cy="128016"/>
          </a:xfrm>
          <a:prstGeom prst="rect">
            <a:avLst/>
          </a:prstGeom>
          <a:solidFill>
            <a:srgbClr val="FF4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58768" y="2029968"/>
            <a:ext cx="79552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0052"/>
                </a:solidFill>
                <a:latin typeface="Trebuchet MS"/>
              </a:rPr>
              <a:t>Case studies and interesting discoveries.</a:t>
            </a: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2" y="1371600"/>
            <a:ext cx="4114800" cy="27446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C00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531352" y="6510528"/>
            <a:ext cx="3657600" cy="347472"/>
          </a:xfrm>
          <a:prstGeom prst="rect">
            <a:avLst/>
          </a:prstGeom>
          <a:solidFill>
            <a:srgbClr val="FF4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45352" y="6693408"/>
            <a:ext cx="5943600" cy="164592"/>
          </a:xfrm>
          <a:prstGeom prst="rect">
            <a:avLst/>
          </a:prstGeom>
          <a:solidFill>
            <a:srgbClr val="A02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Trebuchet MS"/>
              </a:rPr>
              <a:t>Summary &amp; 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383280"/>
            <a:ext cx="3200400" cy="128016"/>
          </a:xfrm>
          <a:prstGeom prst="rect">
            <a:avLst/>
          </a:prstGeom>
          <a:solidFill>
            <a:srgbClr val="FF4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39312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DBBFF"/>
                </a:solidFill>
                <a:latin typeface="Trebuchet MS"/>
              </a:rPr>
              <a:t>Review of the most important points covered.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2" y="1371600"/>
            <a:ext cx="4114800" cy="27359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